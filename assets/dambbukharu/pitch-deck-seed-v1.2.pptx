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A2A1A"/>
                </a:solidFill>
                <a:latin typeface="Pretendard"/>
              </a:defRPr>
            </a:pPr>
            <a:r>
              <a:rPr sz="1200" b="0" i="0" u="none" strike="noStrike">
                <a:solidFill>
                  <a:srgbClr val="3A2A1A"/>
                </a:solidFill>
                <a:latin typeface="Pretendard"/>
              </a:rPr>
              <a:t>자녀 수별 월 요금 · 1인당 단가 (원)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요금</c:v>
                </c:pt>
              </c:strCache>
            </c:strRef>
          </c:tx>
          <c:spPr>
            <a:solidFill>
              <a:srgbClr val="F794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5B48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자녀 1인</c:v>
                  </c:pt>
                  <c:pt idx="1">
                    <c:v>자녀 2인</c:v>
                  </c:pt>
                  <c:pt idx="2">
                    <c:v>자녀 3인</c:v>
                  </c:pt>
                  <c:pt idx="3">
                    <c:v>자녀 4인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</c:v>
                </c:pt>
                <c:pt idx="1">
                  <c:v>9000</c:v>
                </c:pt>
                <c:pt idx="2">
                  <c:v>12000</c:v>
                </c:pt>
                <c:pt idx="3">
                  <c:v>15000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자녀 1인당 단가</c:v>
                </c:pt>
              </c:strCache>
            </c:strRef>
          </c:tx>
          <c:spPr>
            <a:solidFill>
              <a:srgbClr val="8FB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5B48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자녀 1인</c:v>
                  </c:pt>
                  <c:pt idx="1">
                    <c:v>자녀 2인</c:v>
                  </c:pt>
                  <c:pt idx="2">
                    <c:v>자녀 3인</c:v>
                  </c:pt>
                  <c:pt idx="3">
                    <c:v>자녀 4인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6000</c:v>
                </c:pt>
                <c:pt idx="1">
                  <c:v>4500</c:v>
                </c:pt>
                <c:pt idx="2">
                  <c:v>4000</c:v>
                </c:pt>
                <c:pt idx="3">
                  <c:v>3750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B5B48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B48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2A1A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담뿍하루는 부모–자녀 리워드 에듀 플랫폼입니다. 핵심 메시지 한 줄: 아이가 돈을 쓰는 도구가 아니라, 돈을 버는 경험을 만드는 제품입니다.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문제를 각각 해결하지 않고 하나의 루프로 동시에 해소하는 것이 담뿍하루의 접근입니다. 특히 세 번째, 부모의 역할을 감독에서 응원으로 옮기는 축은 경쟁 제품이 비워둔 영역입니다.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슬라이드에서 강조할 것: 지급 무료는 경쟁사 정책을 따라간 것이 아니라, 우리 제품 원리상 필수입니다.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제품이 이미 설계 완료 상태임을 보여주는 슬라이드입니다. 실제 발표 시 와이어프레임 캡처 이미지를 각 카드에 넣으면 훨씬 강해집니다.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개 축 중 앞의 세 개는 경쟁사에 없습니다. 마지막 보태기는 뒤에서 자세히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두 결론: ① 지급 수수료 시장 표준은 이미 0원이다 ② 카드 발급 제휴는 이 시장의 정상 경로다. 우리의 제휴형 출시 전략은 예외가 아니라 표준입니다.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투자자 질문은 '퍼핀과 뭐가 다르냐'가 아니라 '아이부자가 무료인데 왜 6,000원을 내느냐'로 옵니다. 답은 이 세 가지입니다. 특히 은행 앱의 목적이 미래 고객 확보라는 점 — 정서 축에 투자할 유인이 구조적으로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경쟁사가 구조적으로 진입할 수 없는 구간이라는 점이 핵심입니다. 카드 발급 연령 제약은 규제이자 금융사 정책이라 경쟁사가 의지로 내릴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질문은 시드에서 반드시 나옵니다. 출산율 하락을 리스크로 보는 심사역에게 '진입 코호트는 늘고 있다'는 반전을 먼저 제시하십시오.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뱅키즈식 동심원을 쓰되 축을 바꿨습니다. 조 단위를 크게 보여주고 매출을 설명 못 하면 역효과이므로, 원마다 성격(흐름/구독/목표)을 명시합니다. SOM 1만 가구는 목표치이며 보수 시나리오를 함께 노출합니다.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티어와 기간제 체험을 병존시키지 않는 이유는 다음 장에서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투자자 질문 예상: 무료 티어가 너무 관대하지 않나? 답변 — 무료에는 기록과 미션만 있고, 정서·자산 기능이 없습니다. 이 두 축이 이 제품의 실제 가치 제안입니다.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베타(출시 전 한정 프로그램)와 Free 티어(상시 정책)는 별개입니다. 12p의 '기간제 체험 미도입' 원칙과 모순되지 않습니다. 카피 변형 A '잔소리 대신 미션 — 하루 200원', B '학습지보다 가볍게, 첫 금융습관은 하루 200원'도 준비돼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구조의 핵심은 잔액 성장과 비용이 분리된다는 점입니다. 투자자가 가장 좋아하는 형태입니다.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항목이 가장 중요합니다. 구독 서비스에서 해지 방어 장치를 제품 기능으로 내재화한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규제를 모른다가 아니라 임계점과 두 갈래 경로를 안다로 보여주는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확장 모델입니다. 매출 계획에는 포함하지 않고 TAM 확장 논리로만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B2B는 B2C의 대체가 아니라 연령 창 확장입니다.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제도 근거가 법에 있다는 점이 이 슬라이드의 무게입니다. 수요가 정책적으로 보장되어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B2B는 재무 모델에 넣지 않습니다. 재무 모델은 B2C 단독으로 성립해야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파일럿 MOU 1건이 없으면 B2B 슬라이드는 아이디어에 머무릅니다.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시드는 팀에 투자합니다. 겸직 질문이 나오기 전에 '퇴사 후 풀타임'을 먼저 말하십시오. IP 질문에는 사업 아이템은 대표 보유, 법인 설립 시 직무발명·저작물 귀속을 명문화하고 상표를 회사 명의로 출원한다고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 제안 섹션 시작. 목표를 먼저 보여주고, 지분 구조, 조건 순으로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전환율 15% 질문이 반드시 나옵니다. 답: 일반 프리미엄 앱과 달리 무료 티어에 핵심 가치(일기 답장, 저축·보태기)가 없는 구조라 전환 압력이 강하며, 목표 미달 시나리오의 손익도 별첨 재무모델에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45:45 동률 구조에 대해 데드락 질문이 나올 수 있습니다. SHA로 의사결정 구조를 보완한다는 답을 준비하십시오.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밸류에이션 근거 질문에는 '10개월 런웨이에 필요한 최소 자금 1억을 시드 표준 희석률 10%로 나눠 역산했다'고 답합니다. 상세는 다음 장(27p). '임의 산정'이라는 표현은 쓰지 마십시오.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10개월은 짧은 편이므로 6개월차 정부지원 신청을 타임라인에 박아 두었습니다. 대표의 정부지원사업 다회 선정 이력이 이 대목의 신뢰 근거입니다. 밸류 질문에 '임의로 잡았다'는 표현은 절대 쓰지 마십시오.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클로징. 투자 조건 요약과 2개년 목표를 한 번 더 새기고 마칩니다.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중에는 넘기지 말고, Q&amp;A에서 해당 질문이 나오면 이 장을 띄우십시오.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120640" cy="5120640"/>
          </a:xfrm>
          <a:prstGeom prst="ellipse">
            <a:avLst/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023360"/>
            <a:ext cx="3108960" cy="310896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82128" y="5394960"/>
            <a:ext cx="457200" cy="4572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85632" y="5650992"/>
            <a:ext cx="310896" cy="310896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42832" y="5468112"/>
            <a:ext cx="219456" cy="219456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965960"/>
            <a:ext cx="1783080" cy="204825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514600"/>
            <a:ext cx="1627632" cy="1874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18470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부모–자녀 리워드 에듀 플랫폼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66928" y="2231136"/>
            <a:ext cx="7863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</a:t>
            </a:r>
            <a:pPr indent="0" marL="0">
              <a:buNone/>
            </a:pPr>
            <a:r>
              <a:rPr lang="en-US" sz="6800" b="1" dirty="0">
                <a:solidFill>
                  <a:srgbClr val="8FBE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뿍</a:t>
            </a:r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</a:t>
            </a:r>
            <a:endParaRPr lang="en-US" sz="6800" dirty="0"/>
          </a:p>
        </p:txBody>
      </p:sp>
      <p:sp>
        <p:nvSpPr>
          <p:cNvPr id="11" name="Text 7"/>
          <p:cNvSpPr/>
          <p:nvPr/>
        </p:nvSpPr>
        <p:spPr>
          <a:xfrm>
            <a:off x="566928" y="35844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사랑을 담뿍, 오늘도 담뿍하루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66928" y="4334256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" y="43342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 Round · 2026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5074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없이 만 5세부터 시작하는 아이의 첫 금융 습관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용돈, 줄 때마다 고민이었습니다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반복적으로 마주하는 세 가지 문제에서 출발했습니다.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395728"/>
            <a:ext cx="457200" cy="4572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기준의 부재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7824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“언제, 얼마나 줘야 할지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기준을 모르겠어요”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지급이 즉흥적이라 아이가 돈과 행동의 연결을 학습하지 못합니다.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2544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395728"/>
            <a:ext cx="457200" cy="457200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48656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사용의 불투명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E9F2D6"/>
          </a:solidFill>
          <a:ln w="12700">
            <a:solidFill>
              <a:srgbClr val="E9F2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“준 용돈이 어디에 쓰이는지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 수가 없어요”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현금은 기록이 남지 않고, 확인하려 물으면 감시가 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49056" y="2395728"/>
            <a:ext cx="457200" cy="457200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9056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34272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훈육의 마찰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49056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FDE3DE"/>
          </a:solidFill>
          <a:ln w="12700">
            <a:solidFill>
              <a:srgbClr val="FDE3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77072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“습관을 잡아주고 싶은데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잔소리가 되네요”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49056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부모는 지적하는 역할에 고정되고, 아이는 방어합니다.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5분, 다섯 단계의 루프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루프의 반복 횟수가 곧 리텐션이고, 리텐션이 곧 구독 유지입니다.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4168" y="2395728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168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등록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94944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숙제·심부름·효도·선행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미션과 보상 설정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06040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20924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8164" y="2395728"/>
            <a:ext cx="475488" cy="47548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8164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30652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수행·인증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48940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아이가 사진 등으로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완료를 인증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60036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74920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2395728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84648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지급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02936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승인 후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즉시·무료 지급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14032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28916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06156" y="2395728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06156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38644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56932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용돈기입장·일기로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소비와 감정 기록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68028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582912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60152" y="2395728"/>
            <a:ext cx="475488" cy="47548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60152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92640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칭찬·저축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710928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답장·칭찬,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저축에 이자·보태기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681728"/>
            <a:ext cx="11027664" cy="1170432"/>
          </a:xfrm>
          <a:prstGeom prst="roundRect">
            <a:avLst>
              <a:gd name="adj" fmla="val 703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59536" y="4828032"/>
            <a:ext cx="1044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 단계에는 어떤 마찰도 두지 않습니다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59536" y="5157216"/>
            <a:ext cx="10442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미션은 하루 다건 발생하고 승인도 건별입니다. 지급에 수수료나 지연을 두면 부모가 승인을 몰아서 처리하게 되고, 행동과 보상 사이 간격이 벌어져 보상 원리가 작동하지 않습니다. 부모→자녀 용돈 지급은 전 요금제 무료·즉시 — 비용 정책이 아니라 제품 정책입니다.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여섯 개 화면으로 완결됩니다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와이어프레임 기준 · 부모·자녀 화면 분리 설계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3312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· 부모 동의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14세 미만 법정대리인 동의 게이트 필수. 본인인증과 아동용 쉬운 언어 동의 분리.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38928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대시보드 (자녀)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26864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잔액 카드 최상단 + 이번 주 획득 성취 동시 노출. 오늘의 미션 진행률.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24544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목록 · 인증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0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집안일·학습·선행 카테고리 필터. 사진 인증 후 부모 승인 대기 상태 표시.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 · 소비 매트릭스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수입·지출 구분, 카테고리별 매트릭스로 소비 습관 시각화.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52544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26864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38928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26864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 태그와 부모 답장 말풍선으로 양방향 정서 소통.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0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24544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대시보드 · 승인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12480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자녀별 현황 카드, 미션 승인 게이트로 한도·취소권 방어.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돈만 배우는 앱이 아닙니다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 앱이 비워둔 정서·인성·기록 축을 담뿍하루가 채웁니다.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인성 미션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집안일·학습을 넘어 효도·선행을 정식 미션 카테고리로 편성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선행 칭찬받기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5760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To-do에 없는 착한 일도 공유하고 칭찬받는 구조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620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9224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감정과 경험에 부모가 답장하는 양방향 소통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7084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7084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이자 · 보태기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32688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없는 이자로 저축의 재미를 학습 (14p 참조)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626864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7824" y="4773168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아이가 돈을 쓰는 도구가 아니라, 돈을 버는 경험을 만듭니다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77824" y="5193792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미션이 지급보다 먼저 오기 때문에 카드가 필요 없고, 그래서 만 5세부터 시작할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경쟁이 아니라 카테고리 차이입니다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담뿍하루는 기존 아동 금융 앱의 하위 대체재가 아닙니다.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11027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33672"/>
                <a:gridCol w="45994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아동 금융 앱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담뿍하루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명제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아이가 돈을 쓰는 도구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아이가 돈을 버는 경험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출발점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· 결제 인프라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· 행동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 연령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발급 가능 연령부터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불필요 · 만 5세부터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부모의 역할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한도 설정 · 사용 내역 확인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설계 · 승인 · 칭찬 · 답장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기록 대상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결제 내역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소비 + 감정 + 성취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정서 · 인성 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일기 답장 · 효도/선행 미션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39496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참조 — 퍼핀(레몬트리)은 7–18세 선불충전카드 기반이며 용돈 지급 수수료가 무료입니다. 카드 발급은 KB국민카드가 대행하는 제휴 구조입니다.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firfin.family, lemontree.ai 공식 페이지 (2026년 7월 확인)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대체재가 있는데, 왜 유료인가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가까운 대체재는 퍼핀이 아니라 은행이 무료로 운영하는 앱입니다.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00200"/>
                <a:gridCol w="1143000"/>
                <a:gridCol w="5998464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서비스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대상 연령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성격 · 근거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아이부자 (하나은행)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초등 · 중학생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2021.6 출시 부모-자녀 앱 · 2023.5 누적 가입 100만 돌파. 미션·모으기·카드 포함 — 컨셉상 최근접 대체재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카카오뱅크 mini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7–18세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선불전자지급수단. 2023.8 가입 연령을 만 14세+ → 만 7세+로 확대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토스 유스카드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7세 ~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 기반 · 교통카드 지원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퍼핀 (레몬트리)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7–18세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멤버십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선불충전카드 · 금융위 전자금융업 등록 사업자 · 지급 수수료 무료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50474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0700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지갑이 다릅니다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은행 무료앱은 금융상품 지갑에서, 담뿍하루는 학습지·교육 구독이 나가는 교육비 지갑에서 경쟁합니다.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1596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3712" y="5047488"/>
            <a:ext cx="310896" cy="310896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5371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5604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은행이 하지 않는 축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5371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무료앱의 목적은 미래 계좌·카드 고객 확보. 정서 축(일기 답장·효도/선행)에 투자할 유인이 없습니다.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6500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02752" y="5047488"/>
            <a:ext cx="310896" cy="310896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0275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70508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 + 습관 데이터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0275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4개사 모두 실질 하한이 만 7세입니다. 먼저 쌓인 미션·기록 이력은 이전이 불가능합니다.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하나은행 · 카카오뱅크 · 토스 · 퍼핀 공식 페이지 및 보도자료 (2026년 8월 확인)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WHITE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5–6세는 우리만 잡을 수 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규모의 문제가 아니라 순서의 문제입니다.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4323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04288" y="2432304"/>
            <a:ext cx="8833104" cy="402336"/>
          </a:xfrm>
          <a:prstGeom prst="roundRect">
            <a:avLst>
              <a:gd name="adj" fmla="val 2272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4288" y="2432304"/>
            <a:ext cx="8833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5세 – 13세 · 카드 불필요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32186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카드형 앱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67200" y="3218688"/>
            <a:ext cx="6870192" cy="402336"/>
          </a:xfrm>
          <a:prstGeom prst="roundRect">
            <a:avLst>
              <a:gd name="adj" fmla="val 22727"/>
            </a:avLst>
          </a:prstGeom>
          <a:solidFill>
            <a:srgbClr val="DCCFBE"/>
          </a:solidFill>
          <a:ln w="12700">
            <a:solidFill>
              <a:srgbClr val="DCC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67200" y="3218688"/>
            <a:ext cx="687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7세부터 · 카드 발급 필요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04288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5744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67200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48656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0112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11568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93024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74480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55936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04288" y="2048256"/>
            <a:ext cx="1962912" cy="274320"/>
          </a:xfrm>
          <a:prstGeom prst="roundRect">
            <a:avLst>
              <a:gd name="adj" fmla="val 2666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04288" y="2048256"/>
            <a:ext cx="1962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우리만의 구간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용돈이 시작되는 시점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기준에 대한 수요와 부모의 지불의사가 가장 높은 구간입니다.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52544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08576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잡으면 6년을 이어갑니다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08576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구간에서 확보한 사용자는 초등 전 기간을 그대로 사용합니다.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94192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온보딩이 앱 안에서 끝납니다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94192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심사·발급 리드타임이 없어 가입 이탈이 발생하지 않습니다.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지금이어야 하는 세 가지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 수는 줄지만, 우리가 진입하는 구간은 오히려 커지고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출생등록 2년 연속 증가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25.8만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출생등록자 수 (행정안전부).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 신규 진입 코호트는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2~3년 증가 국면입니다.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용돈은 이미 표준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정기적으로 용돈을 주는 부모 비율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(퍼핀 공식 발표). 습관을 만들 토대가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가정 안에 있습니다.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500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6500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시장이 아래로 내려오는 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7세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2104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카카오뱅크 mini가 2023.8 가입 연령을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14세+에서 만 7세+로 확대.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저연령 수요는 이미 검증됐습니다.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5175504"/>
            <a:ext cx="11027664" cy="987552"/>
          </a:xfrm>
          <a:prstGeom prst="roundRect">
            <a:avLst>
              <a:gd name="adj" fmla="val 833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7824" y="5321808"/>
            <a:ext cx="10405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'아동 시장 = 축소 시장'이라는 통념과 달리, 만 5–6세 진입 구간은 성장 구간입니다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77824" y="5705856"/>
            <a:ext cx="10405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 1인당 지출은 집중되고(골드키즈), 저연령 금융 서비스는 이미 만 7세까지 내려왔습니다. 그 아래를 우리가 먼저 잡습니다.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행정안전부 주민등록 인구통계 · 퍼핀 공식 발표 · 카카오뱅크 보도자료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겹의 시장 — 흐름 · 구독 · 목표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거래액을 매출로 포장하지 않고, 우리가 과금하는 시장을 분리해 제시합니다.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234440" y="2048256"/>
            <a:ext cx="3657600" cy="36576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3145536"/>
            <a:ext cx="2560320" cy="2560320"/>
          </a:xfrm>
          <a:prstGeom prst="ellipse">
            <a:avLst/>
          </a:prstGeom>
          <a:solidFill>
            <a:srgbClr val="F9C27E"/>
          </a:solidFill>
          <a:ln w="12700">
            <a:solidFill>
              <a:srgbClr val="F9C2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4151376"/>
            <a:ext cx="1554480" cy="1554480"/>
          </a:xfrm>
          <a:prstGeom prst="ellipse">
            <a:avLst/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흐름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 매출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4700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목표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2139696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2139696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2267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TAM · 용돈 흐름 시장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03920" y="22311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1.2조 원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797296" y="2651760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5–13세 약 300만 명 × 월평균 용돈 3.5만 원 × 12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보태기→예치 구조로 미래 수익 기반과 직결됩니다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3474720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3474720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3602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 · 구독 매출 시장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3566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1,500억 원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797296" y="3986784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300만 가구 × 연 72,000원(2,160억) × 정기 용돈 지급 관행 70%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실제로 과금하는 시장입니다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0" y="4809744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4809744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97296" y="4937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SOM · 3년 목표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03920" y="49011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7.2억 원 + B2B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797296" y="5321808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1만 가구 기준 · 보수 시나리오 5,000가구(연 3.6억) 병기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전환율 15% 기준 무료 누적 약 6.7만 명 필요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인구는 행정안전부 주민등록 1세 단위 통계로 확정 예정 · 평균 용돈은 퍼핀 2024, 아이부자 2025 공개 데이터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Free에서 시작해 Premium으로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기간제 무료 체험을 두지 않고 Free 티어 단일 경로로 운영합니다.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20040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3042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Free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3346704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계좌 연동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생성 · 지급 확인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 (자녀 1인)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대시보드 일부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96512" y="2103120"/>
            <a:ext cx="3200400" cy="3200400"/>
          </a:xfrm>
          <a:prstGeom prst="roundRect">
            <a:avLst>
              <a:gd name="adj" fmla="val 257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96128" y="19568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96128" y="1956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인기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70832" y="23042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Premium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70832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6,000원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370832" y="3310128"/>
            <a:ext cx="265176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효도 · 선행 미션 / 선행 칭찬받기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 · 목표 설정 / 이자 · 보태기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대시보드 · 소비 매트릭스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추가 1인당 3,000원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결제 시 15% 할인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534656" y="2212848"/>
          <a:ext cx="4059936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5504688"/>
            <a:ext cx="11027664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41248" y="5614416"/>
            <a:ext cx="10479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추가 단가를 3,000원으로 둔 이유 — 다자녀 가구는 관리 대상이 많아 제품 의존도가 높고 전환 비용이 커서, ARPU와 리텐션 양쪽에서 가장 우량한 고객군입니다. 이 구간의 단가를 과도하게 낮추면 가장 좋은 고객에게서 가장 적게 받게 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체험을 두지 않는 세 가지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습관 형성 곡선에 결제 시점을 맞춥니다.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31720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26464" y="22494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개의 무료는 전환 시점을 흐립니다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26464" y="25420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티어와 기간제 체험이 병존하면 사용자는 자신이 지금 무엇을 쓰고 있는지 인지하지 못합니다.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127248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319272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26464" y="32369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습관 형성에 4–8주가 필요합니다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26464" y="35295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1개월 체험은 루프가 습관으로 자리잡기 직전에 결제 판단을 강요합니다. 가장 나쁜 타이밍입니다.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306824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306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26464" y="422452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훅을 Free에서 제외했습니다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26464" y="45171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답장(정서 축)과 저축·보태기(자산 축)를 무료에서 빼둔 것이 전환 설계의 핵심입니다. 쓰려는 순간이 결제 시점이 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54112" y="2139696"/>
            <a:ext cx="3840480" cy="3108960"/>
          </a:xfrm>
          <a:prstGeom prst="roundRect">
            <a:avLst>
              <a:gd name="adj" fmla="val 2647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10144" y="234086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추적 지표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10144" y="2743200"/>
            <a:ext cx="3328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→ Premium 전환율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(가입 후 4 / 8 / 12주)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직전 마지막 접점 기능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(일기 답장 · 저축 목표 · 자녀 추가)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2인 이상 계정 비율과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코호트 잔존율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230368"/>
            <a:ext cx="6858000" cy="1042416"/>
          </a:xfrm>
          <a:prstGeom prst="roundRect">
            <a:avLst>
              <a:gd name="adj" fmla="val 789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" y="5394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티어에서 미션 루프를 충분히 돌린 뒤, 정서와 자산 기능을 쓰려는 시점에 결제로 이어집니다. 체험 기간이 아니라 기능 경계가 전환을 만듭니다.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베타에서 유료화까지, 절벽 없이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무료로 모으고 조용히 과금하는 방식은 쓰지 않습니다. 전환 예정을 처음부터 알립니다.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(출시 전)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한정 모집 · 전 기능 무료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모집 공지에 유료 전환 예정을 명시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'무료라더니' 역풍을 원천 차단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0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596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/ Premium 상시 체제로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참가자 창립멤버 우대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(첫 3개월 할인 또는 가격 고정) 사전 공지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0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6500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6500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상시 운영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 단일 경로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 기간이 아니라 기능 경계가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전환을 만드는 구조 유지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114800"/>
            <a:ext cx="6675120" cy="2048256"/>
          </a:xfrm>
          <a:prstGeom prst="roundRect">
            <a:avLst>
              <a:gd name="adj" fmla="val 4018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7824" y="4279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맘카페 · SNS 메인 카피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" y="4590288"/>
            <a:ext cx="6035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"하루 200원,</a:t>
            </a:r>
            <a:endParaRPr lang="en-US" sz="2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아이 건강한 금융습관 만들기"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77824" y="5541264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6,000원의 일 단위 앵커링 — 학습지·교육 구독과 비교되는 순간 교육비 중 가장 가벼운 항목이 됩니다.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16368" y="4114800"/>
            <a:ext cx="4078224" cy="2048256"/>
          </a:xfrm>
          <a:prstGeom prst="roundRect">
            <a:avLst>
              <a:gd name="adj" fmla="val 401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90688" y="427939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집행 3원칙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90688" y="4608576"/>
            <a:ext cx="3529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대가 제공 후기는 '광고/협찬' 표기 (표시광고법)</a:t>
            </a:r>
            <a:endParaRPr lang="en-US" sz="10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'습관 만들기'는 가능, 보장형 문구는 금지</a:t>
            </a:r>
            <a:endParaRPr lang="en-US" sz="10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유료화 일정·우대 조건은 베타 모집 시점부터 공지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이자, 회사 부담 0원으로 만듭니다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개의 외부 재원을 합성해 만드는 기능입니다.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5358384" cy="1316736"/>
          </a:xfrm>
          <a:prstGeom prst="roundRect">
            <a:avLst>
              <a:gd name="adj" fmla="val 6250"/>
            </a:avLst>
          </a:prstGeom>
          <a:solidFill>
            <a:srgbClr val="E9F2D6"/>
          </a:solidFill>
          <a:ln w="12700">
            <a:solidFill>
              <a:srgbClr val="E9F2D6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95728"/>
            <a:ext cx="566928" cy="56692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3591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 금융사 기본 이자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36192" y="27066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연 1% 수준의 저축 이자 · 금융사 부담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44368" y="35112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877056"/>
            <a:ext cx="5358384" cy="1316736"/>
          </a:xfrm>
          <a:prstGeom prst="roundRect">
            <a:avLst>
              <a:gd name="adj" fmla="val 625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4151376"/>
            <a:ext cx="566928" cy="56692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151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36192" y="41148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'보태기'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36192" y="44622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설정한 정률만큼 부모 계좌에서 자동 송금 · 부모 부담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5394960"/>
            <a:ext cx="5358384" cy="896112"/>
          </a:xfrm>
          <a:prstGeom prst="roundRect">
            <a:avLst>
              <a:gd name="adj" fmla="val 9184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550468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 부담 = 0원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58768" y="5504688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잔액이 늘어도</a:t>
            </a:r>
            <a:endParaRPr lang="en-US" sz="10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이자 비용이 발생하지 않습니다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2121408"/>
            <a:ext cx="5358384" cy="2340864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228600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방식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0528" y="2651760"/>
            <a:ext cx="480974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화면에서 보태기 기능 활성화 / 비활성화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 비율(정률)과 지급 트리거 설정 — 매월 정기, 또는 저축 목표일 도달 시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트리거 시점에 부모 계좌에서 자녀 저축계좌로 자동 송금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자녀는 “저축이 늘어난다”로 인지 — 재원과 무관하게 학습 효과는 동일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6208" y="4590288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DE3DE"/>
          </a:solidFill>
          <a:ln w="12700">
            <a:solidFill>
              <a:srgbClr val="FDE3DE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0528" y="473659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 원칙 — 반드시 지킵니다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0528" y="5084064"/>
            <a:ext cx="4809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8A44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금융사 기본이자와 부모 보태기를 화면에서 분리 표시하고, 후자는 '보태기'로 라벨링합니다. 약관에 “부모 계좌에서의 추가 송금이며 금융기관 이자가 아님”을 명시하고, 합산 수익률을 하나의 % 로 광고하지 않습니다. 출시 전 표시·광고 법률 검토를 완료합니다.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보태기는 비용 절감이 아니라 리텐션 장치입니다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505456"/>
            <a:ext cx="512064" cy="512064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17904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손익 중립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17904" y="2926080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잔액이 늘어도 비용이 발생하지 않습니다. 유닛 이코노믹스가 잔액 규모에 독립적입니다.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2194560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28816" y="2505456"/>
            <a:ext cx="512064" cy="512064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87184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리텐션 락인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87184" y="2926080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목표일 기반 보태기를 설정한 부모는 목표 달성까지 해지하지 않습니다. 6개월 목표는 사실상 6개월 계약입니다.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87952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4498848"/>
            <a:ext cx="512064" cy="512064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4498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전환 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17904" y="491947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보태기가 프리미엄 전용이므로, 저축 목표를 세우려는 순간이 곧 결제 시점이 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187952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28816" y="4498848"/>
            <a:ext cx="512064" cy="512064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4498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87184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 자연 증가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87184" y="491947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자발적으로 자녀 계좌에 자금을 이전합니다. 선불업 전환 시점의 협상력이 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제휴형으로 출시하고, 시리즈에서 전환합니다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임계점이 명확하므로 전환 시점을 계정 수로 환산해 예측할 수 있습니다.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1102766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79392"/>
                <a:gridCol w="464515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1단계 — 제휴형 (출시)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2단계 — 자체 선불업 (검토)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등록된 선불업자 · 은행 계좌 · 카드 연계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선불전자지급수단 발행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등록 의무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제휴사가 부담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발행잔액 30억원 · 연 총발행액 500억원 미만이면 면제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 계약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자본금 20억원 이상, 부채비율 200% 이하,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전산업무 2년 이상 임직원 5명 이상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이자 · 운용 수익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 시점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출시 ~ 시리즈 라운드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시리즈 자금 투입 이후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230368"/>
            <a:ext cx="11027664" cy="1042416"/>
          </a:xfrm>
          <a:prstGeom prst="roundRect">
            <a:avLst>
              <a:gd name="adj" fmla="val 789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5394960"/>
            <a:ext cx="1047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제휴형 출시는 규제 회피가 아니라 시장 표준 경로입니다. 보태기 구조 덕분에 예치 잔액이 늘어도 비용이 증가하지 않으므로, 발행잔액 30억원 임계점까지 손익 부담 없이 성장할 수 있습니다.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금융위원회 「선불충전금 100% 보호」 보도자료, 개정 전자금융거래법 (2024. 9. 15. 시행)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05840"/>
            <a:ext cx="4206240" cy="420624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1965960"/>
            <a:ext cx="1965960" cy="22585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286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E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2688336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B2C의 좁은 연령 창을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B2B로 넓힙니다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66928" y="43525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아동복지시설 엔터프라이즈 모델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B2B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 단일 모델에는 세 가지 구조적 한계가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48256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67712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44752" y="21945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 창이 좁다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44752" y="250545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 1인당 활성 기간은 만 5–13세, 실제 활성 구간은 3–5년입니다.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328416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44752" y="32552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유입이 출생아 수에 연동된다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44752" y="35661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저출산은 이 모델의 유입 상단을 구조적으로 낮춥니다.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169664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89120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44752" y="43159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이탈이 예정되어 있다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44752" y="46268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 상단을 넘으면 이탈이 확정됩니다. 관리 대상이 아니라 구조입니다.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6208" y="2048256"/>
            <a:ext cx="5358384" cy="3035808"/>
          </a:xfrm>
          <a:prstGeom prst="roundRect">
            <a:avLst>
              <a:gd name="adj" fmla="val 2711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2231136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B2B가 세 가지를 모두 완화합니다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0528" y="2688336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1건 = 다수 아동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10528" y="2962656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단위 계약으로 아동 수십 명을 동시에 커버합니다.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10528" y="345643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시설은 앱을 교체하지 않는다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0528" y="3730752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B2C와 비교할 수 없는 수준의 잔존율이 확보됩니다.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10528" y="422452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재원이 공공·후원이다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0528" y="4498848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가계 소비 여력과 무관하게 작동합니다.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5248656"/>
            <a:ext cx="11027664" cy="1024128"/>
          </a:xfrm>
          <a:prstGeom prst="roundRect">
            <a:avLst>
              <a:gd name="adj" fmla="val 8036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1248" y="5394960"/>
            <a:ext cx="1047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담뿍하루는 새 수요를 만들지 않습니다. 제도가 이미 요구하지만 도구가 없는 영역에 들어갑니다.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제도와 기능이 이미 대응됩니다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1027664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79392"/>
                <a:gridCol w="4096512"/>
              </a:tblGrid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정부 제도 · 근거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제도 내용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담뿍하루 대응 기능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아동복지법 제38조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국가·지자체는 보호대상아동의 자립에 필요한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자산의 형성 및 관리를 지원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저축 목표 설정, 용돈기입장,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 추이 기록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디딤씨앗통장 (CDA)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0세~만 18세 미만 보호대상아동이 매월 저축하면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국가·지자체가 1:2로 월 10만원 한도까지 매칭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저축 습관 형성 · 매칭 참여 유도,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목표 시각화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자립정착금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18세 이후 보호종료 시 전국 17개 시·도에서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1,000만원 이상 지급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재원 기간 중 소비·기록 이력 축적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(3단계 연계)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시설 운영 · 보고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아동별 생활지도 기록과 지출 증빙을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지자체·후원자에게 보고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인증 사진 = 지도 기록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용돈기입장 = 지출 증빙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D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541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회계는 희망이음 ERP로 전산화되어 있으나, 아동 개인 단위 용돈·소비 기록은 지침상 '별도의 장부' 영역입니다 — 두 시스템 사이의 이 층이 진입점입니다.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보건복지부 「자립준비청년 자립지원」, 아동권리보장원, 아동복지법 제38조·제42~44조, 보건복지부 아동분야 사업안내(아동별 지출 '별도 장부 관리' 문언), 희망이음(ssis.go.kr)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1단계만 계획으로, 나머지는 경로로 제시합니다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아동양육시설 · 공동생활가정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재원 아동 (만 5–13세)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제품 그대로 적용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기간 파일럿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2544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08576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시설 + 지자체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08576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디딤씨앗통장 연동,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 매칭 참여율 제고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08576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시리즈 A 전후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94192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94192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자립준비청년 (18–23세)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94192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프로덕트 —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브랜드·UI 전면 분리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94192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로드맵 후반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261104"/>
            <a:ext cx="53583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" y="4425696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엔터프라이즈 요금제 — 별도 협의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1248" y="4773168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과금 단위: 아동 1인당 월 단가 × 재원 아동 수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단위 연 계약 (회계연도 정합)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 수 구간별 단가 차등 · 구간은 협의 확정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파일럿은 무상 또는 실비 — 레퍼런스 확보 목적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6208" y="4261104"/>
            <a:ext cx="5358384" cy="2011680"/>
          </a:xfrm>
          <a:prstGeom prst="roundRect">
            <a:avLst>
              <a:gd name="adj" fmla="val 4091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10528" y="4425696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가격표를 두지 않는 이유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10528" y="4773168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 편차 — 재원 아동 5명 그룹홈부터 수십 명 양육시설까지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재원 분산 — 지자체 보조금 · 법인 회계 · 후원금이 기관마다 다름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초기에는 매출보다 레퍼런스 확보가 우선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이후 12개월 실행 계획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169664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 · 사업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 · 규제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라운드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Free / Premium 출시, 코어 루프 안정화,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보태기 기능 탑재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 금융사 계약 체결,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표시·광고 법률 검토 완료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+6개월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Free→Premium 전환율 최적화,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다자녀 코호트 확보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예치 잔액 모니터링 체계 구축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+12개월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파일럿 1–3개 시설 운영 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1건은 올해 내 확보 커밋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발행잔액 30억 임계점 대비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 시나리오 확정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시리즈 A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엔터프라이즈 정식 상품화,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디딤씨앗통장 연동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선불업 등록 추진 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779008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" y="5870448"/>
            <a:ext cx="10479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라운드 전 최우선 과제 — 파일럿 시설 1곳 무상 도입 MOU. 올해 내 1건 이상 확보를 커밋하며, 이 1건이 확장 논리 전체의 신뢰도를 결정합니다.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 시작해, 만들어본 사람들이 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코어로 출발하며, 대표는 현직 퇴사 후 풀타임으로 전념합니다.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5358384" cy="2615184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591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591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풀타임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7797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· 사업 총괄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54787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지역기반 O2O 플랫폼 사업 운영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정부지원사업 다회 선정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창업을 위해 현직(식자재쿡) 퇴사 예정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157984"/>
            <a:ext cx="5358384" cy="2615184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23591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3591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10528" y="27797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10528" y="320040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CTO · 개발 총괄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0528" y="354787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풀스택 엔지니어 8년차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개발 총괄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창립 멤버 · 제품 아키텍처 설계</a:t>
            </a:r>
            <a:endParaRPr lang="en-US" sz="11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224528"/>
            <a:ext cx="1207008" cy="138988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66928" y="4956048"/>
            <a:ext cx="9052560" cy="1207008"/>
          </a:xfrm>
          <a:prstGeom prst="roundRect">
            <a:avLst>
              <a:gd name="adj" fmla="val 681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41248" y="5084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 계획 · 창업 구조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41248" y="5413248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구현 속도에 따라 개발자 · 디자이너 · 마케터를 순차 영입(ESOP 10% 활용).  전 직장과는 지분·수익 관계가 없으며, 사업 아이템은 대표가 보유합니다.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389120" cy="438912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828800"/>
            <a:ext cx="1828800" cy="21031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377440"/>
            <a:ext cx="1600200" cy="18379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22860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66928" y="268833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제안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566928" y="363931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목표 · 캡테이블 · 투자 조건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2년, 두 구간의 사업 목표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기반 검증 → 유료 전환의 순서를 지킵니다.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58384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0428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04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– 1년차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오픈 · 무료 기반 확보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베타테스트 오픈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맘카페 등 채널 중심 B2C 유저 모집 — 무료 유저 2,000명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MVP 모델 1개 시설 이상 계약 (무료 사용, 레퍼런스 확보)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2103120"/>
            <a:ext cx="5358384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230428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304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– 2년차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10528" y="274320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유료 전환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10528" y="32004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초기창업패키지 · 청년창업사관학교 · TIPS 등 민간/정부 프로그램 참여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서비스 및 유료 요금제 출시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유저 대비 유료 요금제 사용 유저 15% 이상 유치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5852160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5943600"/>
            <a:ext cx="10479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 15%는 여전히 도전적 목표입니다 — Free 티어에서 정서·자산 기능을 제외한 전환 설계(12p)가 이 목표의 근거이며, 4/8/12주 코호트 전환율로 분기마다 검증합니다.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전 · 후 지분 구조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설립 시점 기준이며 세부 수치는 변동될 수 있습니다.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1945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87168" y="2212848"/>
            <a:ext cx="4644786" cy="402336"/>
          </a:xfrm>
          <a:prstGeom prst="roundRect">
            <a:avLst>
              <a:gd name="adj" fmla="val 1136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87168" y="2212848"/>
            <a:ext cx="46447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 51%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1954" y="2212848"/>
            <a:ext cx="3551896" cy="402336"/>
          </a:xfrm>
          <a:prstGeom prst="roundRect">
            <a:avLst>
              <a:gd name="adj" fmla="val 1136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1954" y="2212848"/>
            <a:ext cx="3551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 39%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683850" y="2212848"/>
            <a:ext cx="910742" cy="402336"/>
          </a:xfrm>
          <a:prstGeom prst="roundRect">
            <a:avLst>
              <a:gd name="adj" fmla="val 11364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83850" y="2212848"/>
            <a:ext cx="910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ESOP 10%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8529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87168" y="2871216"/>
            <a:ext cx="4180308" cy="402336"/>
          </a:xfrm>
          <a:prstGeom prst="roundRect">
            <a:avLst>
              <a:gd name="adj" fmla="val 1136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2871216"/>
            <a:ext cx="41803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 45.9%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67476" y="2871216"/>
            <a:ext cx="3196706" cy="402336"/>
          </a:xfrm>
          <a:prstGeom prst="roundRect">
            <a:avLst>
              <a:gd name="adj" fmla="val 1136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7476" y="2871216"/>
            <a:ext cx="31967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 35.1%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64182" y="2871216"/>
            <a:ext cx="819668" cy="402336"/>
          </a:xfrm>
          <a:prstGeom prst="roundRect">
            <a:avLst>
              <a:gd name="adj" fmla="val 11364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64182" y="2871216"/>
            <a:ext cx="8196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ESOP 9%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683850" y="2871216"/>
            <a:ext cx="910742" cy="402336"/>
          </a:xfrm>
          <a:prstGeom prst="roundRect">
            <a:avLst>
              <a:gd name="adj" fmla="val 1136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83850" y="2871216"/>
            <a:ext cx="910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 10%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39312"/>
          <a:ext cx="1102766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46704"/>
                <a:gridCol w="2651760"/>
                <a:gridCol w="26517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주주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후 (10% 발행 시)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김지창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51%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45.9%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공경섭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CTO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35.1%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ESOP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팀원 스톡옵션 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Seed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66928" y="5797296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41248" y="5888736"/>
            <a:ext cx="10479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 2인의 지분과 별개로 대표이사 캐스팅보트 등 의사결정 구조는 주주간계약(SHA)으로 정하며, 공동창업자 지분에는 4년 베스팅 · 1년 클리프를 적용합니다.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원, 지분 10%를 제안합니다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유치 금액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1248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 · 신주 발행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2544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지분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26864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26864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기준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기업가치 (내재)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10억 원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· 10개월 런웨이에서 역산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224528"/>
            <a:ext cx="68580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438912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사용 계획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1248" y="475488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— 베타 → 정식 출시, 보태기 기능 탑재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— 제휴 금융사 연동 개발, 표시·광고 법률 검토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 — 맘카페 중심 B2C 무료 유저 2,000명 확보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— B2B MVP 파일럿 시설 계약 및 운영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54112" y="4224528"/>
            <a:ext cx="3840480" cy="2103120"/>
          </a:xfrm>
          <a:prstGeom prst="roundRect">
            <a:avLst>
              <a:gd name="adj" fmla="val 391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10144" y="4389120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자금으로 도달할 다음 라운드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10144" y="4754880"/>
            <a:ext cx="3328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유저 2,000명 + 유료 전환 실측 코호트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레퍼런스 1건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TIPS 등 후속 프로그램 연계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세부 조건(투자 방식, 밸류에이션, 지분율)은 협의에 따라 변동될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원은 10개월입니다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밸류를 부풀리는 대신, 다음 라운드 지표에 도달할 만큼만 조달합니다.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조달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신주 발행 · 지분 10%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운영비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1,000만 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인건비 + 인프라 · 마케팅 실비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6500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6500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런웨이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2104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외주 유지보수 매출 발생 시 연장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950208"/>
            <a:ext cx="6675120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41148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연계 타임라인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" y="4517136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517136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0–5개월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31136" y="45171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보태기 탑재, 베타 유저 유료 전환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" y="5029200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0292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6개월차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31136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초기창업패키지 · 청년창업사관학교 · TIPS 신청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" y="5541264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55412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 내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31136" y="5541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자금 확보로 런웨이 연장, 시리즈 지표 축적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16368" y="3950208"/>
            <a:ext cx="4078224" cy="2212848"/>
          </a:xfrm>
          <a:prstGeom prst="roundRect">
            <a:avLst>
              <a:gd name="adj" fmla="val 3719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90688" y="4114800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10억의 역산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90688" y="448056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 런웨이에 필요한 최소 자금 1억 원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÷ 시드 표준 희석률 10%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포스트머니 10억 원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90688" y="5468112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임의 산정이 아니라, 도달해야 할 지표에서 거꾸로 계산한 금액입니다.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37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사랑을 담뿍,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23957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오늘부터 담뿍하루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66928" y="3401568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401568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572768" y="340156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 · 지분 10% (포스트머니 10억 원)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005072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005072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572768" y="40050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오픈 · 무료 유저 2,000명 · B2B MVP 1건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608576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608576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2년차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572768" y="460857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유료 전환 15% · TIPS 연계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834640"/>
            <a:ext cx="1828800" cy="210312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3337560"/>
            <a:ext cx="1691640" cy="19476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6928" y="59436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7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  ·  김지창 · 공경섭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 예상 질문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답변과 재무 시나리오는 사업기획서 13장에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042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2286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대표는 풀타임인가?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688336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그렇습니다. 본 창업을 위해 현직을 퇴사하고 풀타임 대표로 전념합니다.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6208" y="2103120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23042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76288" y="2286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직장과의 관계는?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73952" y="2688336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지분·수익 관계 없음. 일부 외주 유지보수 요청 가능성만 있으며 리소스 상한을 두고 보조 매출로만 운영합니다.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49300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694176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7008" y="36758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기술이 CTO 개인 소유인가?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4078224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아닙니다. 사업 아이템은 대표 보유이며, 법인 설립 시 직무발명·저작물 귀속을 명문화하고 상표를 회사 명의로 출원합니다.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6208" y="349300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3952" y="3694176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76288" y="36758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아이부자가 무료인데 왜 유료인가?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73952" y="4078224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지갑이 다르고(교육비 vs 금융상품), 은행이 투자할 유인이 없는 정서 축이 본체이며, 만 5–6세와 습관 데이터로 락인됩니다.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882896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5084064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50657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 15% 근거는?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04672" y="5468112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티어에 정서·자산 축을 미포함한 전환 설계. 4/8/12주 코호트로 분기 검증하며 미달 시나리오 손익도 별첨했습니다.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6208" y="4882896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73952" y="5084064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76288" y="50657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1억으로 얼마나 가는가?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73952" y="5468112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1,000만 원 × 10개월. 6개월차 정부지원 프로그램 신청으로 연장을 설계했습니다.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외 CAC · 아동 데이터 보호 · B2B 파일럿 · 데이터 해자 등 12개 문항은 사업기획서 13장 참조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담뿍하루 · Seed Round (v1.1)</dc:title>
  <dc:subject>PptxGenJS Presentation</dc:subject>
  <dc:creator>김지창</dc:creator>
  <cp:lastModifiedBy>김지창</cp:lastModifiedBy>
  <cp:revision>1</cp:revision>
  <dcterms:created xsi:type="dcterms:W3CDTF">2026-08-03T17:58:01Z</dcterms:created>
  <dcterms:modified xsi:type="dcterms:W3CDTF">2026-08-03T17:58:01Z</dcterms:modified>
</cp:coreProperties>
</file>